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ec5449e242490c" /><Relationship Type="http://schemas.openxmlformats.org/officeDocument/2006/relationships/extended-properties" Target="/docProps/app.xml" Id="R12859d824a9b4feb" /><Relationship Type="http://schemas.openxmlformats.org/officeDocument/2006/relationships/officeDocument" Target="/ppt/presentation.xml" Id="R1a98fb6aa2c94a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258ed79daa49a5"/>
  </p:sldMasterIdLst>
  <p:notesMasterIdLst>
    <p:notesMasterId xmlns:r="http://schemas.openxmlformats.org/officeDocument/2006/relationships" r:id="R6b4221feccb24393"/>
  </p:notesMasterIdLst>
  <p:sldIdLst>
    <p:sldId xmlns:r="http://schemas.openxmlformats.org/officeDocument/2006/relationships" id="256" r:id="R04da2b0a4be540e9"/>
    <p:sldId xmlns:r="http://schemas.openxmlformats.org/officeDocument/2006/relationships" id="257" r:id="R2abf4f4f95664f5e"/>
    <p:sldId xmlns:r="http://schemas.openxmlformats.org/officeDocument/2006/relationships" id="258" r:id="R3f51a66481c545c3"/>
    <p:sldId xmlns:r="http://schemas.openxmlformats.org/officeDocument/2006/relationships" id="259" r:id="Ra1e43a3d789f4012"/>
    <p:sldId xmlns:r="http://schemas.openxmlformats.org/officeDocument/2006/relationships" id="260" r:id="Re6bdac54f6484baa"/>
    <p:sldId xmlns:r="http://schemas.openxmlformats.org/officeDocument/2006/relationships" id="261" r:id="R62c5ccc5da0540db"/>
    <p:sldId xmlns:r="http://schemas.openxmlformats.org/officeDocument/2006/relationships" id="262" r:id="Rde078fee6f08447d"/>
    <p:sldId xmlns:r="http://schemas.openxmlformats.org/officeDocument/2006/relationships" id="263" r:id="R5d14a694758b4b85"/>
    <p:sldId xmlns:r="http://schemas.openxmlformats.org/officeDocument/2006/relationships" id="264" r:id="R3d0c1fcccd474ba0"/>
    <p:sldId xmlns:r="http://schemas.openxmlformats.org/officeDocument/2006/relationships" id="265" r:id="Re68aada5052647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45c3acf9864a92" /><Relationship Type="http://schemas.openxmlformats.org/officeDocument/2006/relationships/slideMaster" Target="/ppt/slideMasters/slideMaster1.xml" Id="R15258ed79daa49a5" /><Relationship Type="http://schemas.openxmlformats.org/officeDocument/2006/relationships/notesMaster" Target="/ppt/notesMasters/notesMaster1.xml" Id="R6b4221feccb24393" /><Relationship Type="http://schemas.openxmlformats.org/officeDocument/2006/relationships/presProps" Target="/ppt/presProps.xml" Id="R33ac300688814843" /><Relationship Type="http://schemas.openxmlformats.org/officeDocument/2006/relationships/tableStyles" Target="/ppt/tableStyles.xml" Id="R176f799a66aa41d1" /><Relationship Type="http://schemas.openxmlformats.org/officeDocument/2006/relationships/slide" Target="/ppt/slides/slide1.xml" Id="R04da2b0a4be540e9" /><Relationship Type="http://schemas.openxmlformats.org/officeDocument/2006/relationships/slide" Target="/ppt/slides/slide2.xml" Id="R2abf4f4f95664f5e" /><Relationship Type="http://schemas.openxmlformats.org/officeDocument/2006/relationships/slide" Target="/ppt/slides/slide3.xml" Id="R3f51a66481c545c3" /><Relationship Type="http://schemas.openxmlformats.org/officeDocument/2006/relationships/slide" Target="/ppt/slides/slide4.xml" Id="Ra1e43a3d789f4012" /><Relationship Type="http://schemas.openxmlformats.org/officeDocument/2006/relationships/slide" Target="/ppt/slides/slide5.xml" Id="Re6bdac54f6484baa" /><Relationship Type="http://schemas.openxmlformats.org/officeDocument/2006/relationships/slide" Target="/ppt/slides/slide6.xml" Id="R62c5ccc5da0540db" /><Relationship Type="http://schemas.openxmlformats.org/officeDocument/2006/relationships/slide" Target="/ppt/slides/slide7.xml" Id="Rde078fee6f08447d" /><Relationship Type="http://schemas.openxmlformats.org/officeDocument/2006/relationships/slide" Target="/ppt/slides/slide8.xml" Id="R5d14a694758b4b85" /><Relationship Type="http://schemas.openxmlformats.org/officeDocument/2006/relationships/slide" Target="/ppt/slides/slide9.xml" Id="R3d0c1fcccd474ba0" /><Relationship Type="http://schemas.openxmlformats.org/officeDocument/2006/relationships/slide" Target="/ppt/slides/slide10.xml" Id="Re68aada5052647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fe8564e6ec41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af8459d16c43b4" /><Relationship Type="http://schemas.openxmlformats.org/officeDocument/2006/relationships/notesMaster" Target="/ppt/notesMasters/notesMaster1.xml" Id="R0862f89c15b64f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885682fdc84fd9" /><Relationship Type="http://schemas.openxmlformats.org/officeDocument/2006/relationships/notesMaster" Target="/ppt/notesMasters/notesMaster1.xml" Id="Re24deb5e8e6240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1ce59e6ed445c3" /><Relationship Type="http://schemas.openxmlformats.org/officeDocument/2006/relationships/notesMaster" Target="/ppt/notesMasters/notesMaster1.xml" Id="R6449e543e6b740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eb161d5125463b" /><Relationship Type="http://schemas.openxmlformats.org/officeDocument/2006/relationships/notesMaster" Target="/ppt/notesMasters/notesMaster1.xml" Id="R5f125d13eaf04f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1b81e3b4f844c7" /><Relationship Type="http://schemas.openxmlformats.org/officeDocument/2006/relationships/notesMaster" Target="/ppt/notesMasters/notesMaster1.xml" Id="Rfd906d8f444347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31303528234a99" /><Relationship Type="http://schemas.openxmlformats.org/officeDocument/2006/relationships/notesMaster" Target="/ppt/notesMasters/notesMaster1.xml" Id="R2fb950b6d9e14c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98b2de7ddb4520" /><Relationship Type="http://schemas.openxmlformats.org/officeDocument/2006/relationships/notesMaster" Target="/ppt/notesMasters/notesMaster1.xml" Id="R70319d2efb8841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5da25b6e424367" /><Relationship Type="http://schemas.openxmlformats.org/officeDocument/2006/relationships/notesMaster" Target="/ppt/notesMasters/notesMaster1.xml" Id="Rf4a2116f6e7341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d56e3e945d4772" /><Relationship Type="http://schemas.openxmlformats.org/officeDocument/2006/relationships/notesMaster" Target="/ppt/notesMasters/notesMaster1.xml" Id="R13b62728254342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04ce30a79f4475" /><Relationship Type="http://schemas.openxmlformats.org/officeDocument/2006/relationships/notesMaster" Target="/ppt/notesMasters/notesMaster1.xml" Id="Refa409b4ff0c40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9bfb55f8147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4d5657fc9f4a4b" /><Relationship Type="http://schemas.openxmlformats.org/officeDocument/2006/relationships/slideLayout" Target="/ppt/slideLayouts/slideLayout1.xml" Id="R40f8f4df6f0e4f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f8f4df6f0e4f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2018d408443d9" /><Relationship Type="http://schemas.openxmlformats.org/officeDocument/2006/relationships/notesSlide" Target="/ppt/notesSlides/notesSlide1.xml" Id="R89a73f1a25db4f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3e187d01546a4" /><Relationship Type="http://schemas.openxmlformats.org/officeDocument/2006/relationships/notesSlide" Target="/ppt/notesSlides/notesSlide2.xml" Id="Rb673dbd264cf46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6ef54ea8345a8" /><Relationship Type="http://schemas.openxmlformats.org/officeDocument/2006/relationships/notesSlide" Target="/ppt/notesSlides/notesSlide3.xml" Id="Raf87cd99d7d346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e3f3397774f7e" /><Relationship Type="http://schemas.openxmlformats.org/officeDocument/2006/relationships/notesSlide" Target="/ppt/notesSlides/notesSlide4.xml" Id="R20743ab69e7d45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69f136814470f" /><Relationship Type="http://schemas.openxmlformats.org/officeDocument/2006/relationships/notesSlide" Target="/ppt/notesSlides/notesSlide5.xml" Id="R3323592bff0444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2bf7acbee427e" /><Relationship Type="http://schemas.openxmlformats.org/officeDocument/2006/relationships/notesSlide" Target="/ppt/notesSlides/notesSlide6.xml" Id="R386bcc013dfa44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7475e3d974d4a" /><Relationship Type="http://schemas.openxmlformats.org/officeDocument/2006/relationships/notesSlide" Target="/ppt/notesSlides/notesSlide7.xml" Id="R71b1551905a448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56cc572d749ca" /><Relationship Type="http://schemas.openxmlformats.org/officeDocument/2006/relationships/notesSlide" Target="/ppt/notesSlides/notesSlide8.xml" Id="R26f396bd841843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863c6757c41c9" /><Relationship Type="http://schemas.openxmlformats.org/officeDocument/2006/relationships/notesSlide" Target="/ppt/notesSlides/notesSlide9.xml" Id="Rd4d04e78c35349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fb5ae66934110" /><Relationship Type="http://schemas.openxmlformats.org/officeDocument/2006/relationships/notesSlide" Target="/ppt/notesSlides/notesSlide10.xml" Id="R0ce1aab91ab242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95B3DF-A287-4803-B9C4-0D03793B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13985-5413-4630-AF8D-D33F58E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5410B-B00E-49C1-B6FE-15CAE7E2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跨平台歌曲热度分析系统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0A7A9-65E6-43F8-B147-EF7AC10B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面向网易云音乐、QQ音乐、酷狗音乐公开榜单的数据采集、综合评分与可视化分析平台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86769-AAC6-4436-A391-880868BD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56795-0E0D-46FF-A0E6-7219BA82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D4C80-31ED-4E51-B88F-5B971F60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480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270E1-CA22-486B-967F-4B5E2B97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1467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B76A"/>
                </a:solidFill>
              </a:defRPr>
            </a:pPr>
            <a:r>
              <a:rPr sz="1050" b="1">
                <a:solidFill>
                  <a:srgbClr val="12B76A"/>
                </a:solidFill>
              </a:rPr>
              <a:t>SQLAlchemy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BCDCA-0309-4462-899A-D06F460F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F7900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27450-725B-4625-A4E9-A263D100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1467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9009"/>
                </a:solidFill>
              </a:defRPr>
            </a:pPr>
            <a:r>
              <a:rPr sz="1050" b="1">
                <a:solidFill>
                  <a:srgbClr val="F79009"/>
                </a:solidFill>
              </a:rPr>
              <a:t>MySQL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468CF-2FCD-40E6-B0E5-EE562FD8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AE8BE-D529-4986-8D53-E42F5475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可视化前端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3006F-6184-42F2-A83E-98582F5F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47750"/>
            <a:ext cx="3143250" cy="4000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D1B2B-7D5C-45C6-8CA5-F1348D9D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66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三平台数据闭环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D24FF-AA9F-4235-8B70-3299678D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1905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C07DF-911C-42A1-B028-3D669619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62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榜单采集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06B96-5A28-4A43-8198-180B4DAD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1905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79C12A-9788-4DF5-A785-5417D545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527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清洗合并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68080-B7CE-4E4A-8AB7-056505FC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1905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1EAA6-59F9-4AD9-A5C1-3918AF8B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432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热度评分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85885-1E37-4C3A-8ED3-77B3822E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1905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2D1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A8D17-0011-4CEC-9CFE-1E8D4C45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338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看板分析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3EA93-B83B-4EF5-9459-F35D0310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项目展示 / 专业美化版</a:t>
            </a:r>
          </a:p>
        </p:txBody>
      </p:sp>
    </p:spTree>
    <p:extLst>
      <p:ext uri="{BB962C8B-B14F-4D97-AF65-F5344CB8AC3E}">
        <p14:creationId xmlns:p14="http://schemas.microsoft.com/office/powerpoint/2010/main" val="1480740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F59FC7-AF3C-4F50-B91E-618D71D6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PROJECT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F548A-7ACC-4DD1-AF00-B765FFE2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系统把分散榜单转化为可比较的热度信号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8096E-A0E6-41AA-9FB8-949C3FA0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目标不是复刻单个平台排名，而是形成跨平台、可解释、可追踪的分析口径。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09EB3-A5FE-4863-9B67-BA2EA54B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762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D2079-FAC5-4E20-8640-786C96BA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数据来源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8CCBB-B63B-45D4-94BC-89490446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网易云音乐、QQ音乐、酷狗音乐公开榜单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77C80-4185-4F2D-82E2-7A61B50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95500"/>
            <a:ext cx="4762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5681A-3B1E-4EEA-9402-F2B4D23F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05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核心处理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60741-FDC0-4C21-9F2A-16A97B02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47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采集、清洗、版本合并、指标归一化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ABCEE-7DBC-4FBD-A722-F49443F7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4762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FFBC2-2044-4242-9C72-2AD04BD8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86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分析结果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CE316-F98B-4915-B0AC-75EBDBC2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290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日榜、周榜、飙升榜、新歌榜、歌手榜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60E6B-2E4B-4C7D-9BCE-850BC0DE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76625"/>
            <a:ext cx="4762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B5ED7-C8A2-4C04-AB94-4EBC1E81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86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展示方式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FCC85-0664-426F-8C02-3B3C37AE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290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首页看板、详情页、跨平台覆盖与热度来源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F3E32-0F4A-4A0F-B7C6-A37E5DD4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跨平台歌曲热度分析系统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62AE6-C4CD-43AD-9A8A-E666DCA5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24053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EAF83D-B96C-408C-94CF-984AE7B2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30829-B4E9-448C-9EB7-F0D703CD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前后端分层让采集、计算和展示各自独立演进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3B820-9D4C-4B57-8C0E-9DE04F40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后端用 FastAPI 承接业务接口，服务层沉淀算法与分析逻辑，MySQL 保存标准化后的歌曲与榜单数据。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61985-1C63-4454-879E-2269DE5D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324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7DAA7-9D46-4CAC-BFF7-2C0B01F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前端展示层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DE96F-8215-4F44-8FC4-B1C2D9B0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frontend/index.html</a:t>
            </a:r>
          </a:p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frontend/app.js</a:t>
            </a:r>
          </a:p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frontend/styles.css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17D0A-6FAA-4687-92DA-3534AC6E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051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8A2B3"/>
                </a:solidFill>
              </a:defRPr>
            </a:pPr>
            <a:r>
              <a:rPr sz="2400" b="1">
                <a:solidFill>
                  <a:srgbClr val="98A2B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FD3D5-87D7-4392-A74D-7A2965C3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38375"/>
            <a:ext cx="2324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64B19-3D6A-4A60-827C-BD0A428C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95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B6D4"/>
                </a:solidFill>
              </a:defRPr>
            </a:pPr>
            <a:r>
              <a:rPr sz="1650" b="1">
                <a:solidFill>
                  <a:srgbClr val="06B6D4"/>
                </a:solidFill>
              </a:rPr>
              <a:t>API 路由层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32F7D-E3D3-4D06-9291-B48ADDD0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charts / songs / artists</a:t>
            </a:r>
          </a:p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crawler / reports /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57DAC-B22B-47C7-B3D6-00A98F34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051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8A2B3"/>
                </a:solidFill>
              </a:defRPr>
            </a:pPr>
            <a:r>
              <a:rPr sz="2400" b="1">
                <a:solidFill>
                  <a:srgbClr val="98A2B3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93610-B574-437C-90EE-2A25AAB3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2324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E705E-8447-46C9-9C2F-A4BBD79B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B76A"/>
                </a:solidFill>
              </a:defRPr>
            </a:pPr>
            <a:r>
              <a:rPr sz="1650" b="1">
                <a:solidFill>
                  <a:srgbClr val="12B76A"/>
                </a:solidFill>
              </a:rPr>
              <a:t>服务计算层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579FA-B2C9-421B-A2C5-D3FA5766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analytics_service</a:t>
            </a:r>
          </a:p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heat_score_service</a:t>
            </a:r>
          </a:p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crawler_service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F990C-DD7C-49CF-AEA1-14416F51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8A2B3"/>
                </a:solidFill>
              </a:defRPr>
            </a:pPr>
            <a:r>
              <a:rPr sz="2400" b="1">
                <a:solidFill>
                  <a:srgbClr val="98A2B3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F8A0B-8481-4E2A-944F-2568CF13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324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790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B8B3D-F753-491F-8F91-AC9330FC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9009"/>
                </a:solidFill>
              </a:defRPr>
            </a:pPr>
            <a:r>
              <a:rPr sz="1650" b="1">
                <a:solidFill>
                  <a:srgbClr val="F79009"/>
                </a:solidFill>
              </a:rPr>
              <a:t>数据存储层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E707D-C1BC-420B-8B8E-DBE91B2B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1943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Song / Chart / PlatformSong</a:t>
            </a:r>
          </a:p>
          <a:p xmlns:a="http://schemas.openxmlformats.org/drawingml/2006/main">
            <a:pPr algn="ctr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HeatScoreDaily / SongMetric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320AC-E035-4723-8442-255EBFDC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57750"/>
            <a:ext cx="82677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D8D70-1462-4327-9D1E-10ABA76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577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B2783-59AE-4228-9D3F-FEC4110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6730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app.include_router(charts.router)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app.include_router(songs.router)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app.include_router(artists.router)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app.include_router(crawler.router)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DB3DC-5286-435F-87B6-0BF0AA55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跨平台歌曲热度分析系统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1AE3C-D018-4BFF-BD89-AB1D2ACB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8987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A59DF8-FF50-444F-A4B4-BCCA9260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DATA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37937-2760-4512-A5F9-215B301A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数据流程围绕“采集可审计、评分可解释”设计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41F1B-80E1-4EC0-BA28-7236AD8D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每条歌曲保留平台原始信息，同时合并到标准歌曲实体，便于做跨平台比较。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FEE2F-A494-43DB-9B1D-F6578D54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8669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69B54-320C-4851-9A09-116FDD7C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1A876-12A0-46B9-973C-D475BB64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公开榜单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FD738-CAC5-4476-A079-14370A12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热歌榜 / 新歌榜 / 飙升榜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950CE-70C1-4C74-AD41-40341A63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146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4A3B8"/>
                </a:solidFill>
              </a:defRPr>
            </a:pPr>
            <a:r>
              <a:rPr sz="225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D9F94-4F3D-43A2-935A-AAC95BD1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00300"/>
            <a:ext cx="18669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ED038-A224-4C5F-8A58-533B925F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9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B6D4"/>
                </a:solidFill>
              </a:defRPr>
            </a:pPr>
            <a:r>
              <a:rPr sz="1650" b="1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92F44-8082-4142-A7DA-ED4F096D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90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爬虫采集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06C65-CA2C-457A-90B3-B2F5BE7F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平台适配器与字段成功率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4B043-F2E3-463C-9FB8-D48AF90F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4A3B8"/>
                </a:solidFill>
              </a:defRPr>
            </a:pPr>
            <a:r>
              <a:rPr sz="225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DE811-B5DA-4B9C-9669-E0C9B9CD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18669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43197-6FF6-412F-A58C-422788EF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9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B76A"/>
                </a:solidFill>
              </a:defRPr>
            </a:pPr>
            <a:r>
              <a:rPr sz="1650" b="1">
                <a:solidFill>
                  <a:srgbClr val="12B76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DF92B-67A9-4C63-95B5-ECA1CAAE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90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实体合并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28F57-3E65-49A8-8160-68AFA632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718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标准歌名、歌手、版本识别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AF4CF-1B03-4A30-8030-84F5857E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4A3B8"/>
                </a:solidFill>
              </a:defRPr>
            </a:pPr>
            <a:r>
              <a:rPr sz="225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7D50D-8A2A-464A-B706-A654BFF8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18669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790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A3501-FE2E-4D24-83B8-4348117A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9009"/>
                </a:solidFill>
              </a:defRPr>
            </a:pPr>
            <a:r>
              <a:rPr sz="1650" b="1">
                <a:solidFill>
                  <a:srgbClr val="F79009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3EADE-3C28-42C5-9C50-243DE8E0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热度计算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A3D76-E980-4BE7-A613-3FE457E5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718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平台分、互动分、覆盖分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50449-C20E-4C46-8F56-3A889A4E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4A3B8"/>
                </a:solidFill>
              </a:defRPr>
            </a:pPr>
            <a:r>
              <a:rPr sz="225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5D22E-A20F-4505-A3B2-9078013C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00300"/>
            <a:ext cx="18669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E0FCC-3C46-4842-A554-84AB561E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9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9B92E0-B5BB-495A-995A-1BF05CDF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90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分析展示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D06D6-C797-4F5B-8CD4-42227608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718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榜单、趋势、详情、报告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DCD877-BE49-4A5E-B185-9B00FD51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72000"/>
            <a:ext cx="82486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9B6A3A-4706-4F1F-9EE6-D79AB478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72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solidFill>
              <a:srgbClr val="12B76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B6A39B-8134-47E6-B2B6-BC9526D3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81550"/>
            <a:ext cx="7791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python scripts/run_crawler.py --platform all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python scripts/run_heat_score.py --date 2026-06-29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python scripts/run_ai_analysis.py --date 2026-06-29 --limit 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CB1845-0274-4807-A691-D534C5B9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跨平台歌曲热度分析系统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CE5331-E6A1-4CC9-B046-6988D89A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78158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C7DCBF-E292-41A6-B27B-57E41527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HEAT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F9E2A-FD2A-4951-8BE5-A5E369F7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热度模型兼顾平台排名、互动反馈和跨平台覆盖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FAF66-B4D1-4BE7-A4DC-878F3FAD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指标缺失时按可用字段动态分配权重，避免把未公开数据简单当作 0 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79A98-3F23-4CD2-90BF-36AAB080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52959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20037-559D-4836-9213-8767FB58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solidFill>
              <a:srgbClr val="F7900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8EE53-EFF8-4166-B038-528C364C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48387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HEAT_PLATFORM_WEIGHT = 0.55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HEAT_ENGAGEMENT_WEIGHT = 0.30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HEAT_COVERAGE_WEIGHT = 0.15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heat_score = platform_score * 0.55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           + engagement_score * 0.30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           + coverage_score * 0.15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F61D8-DD2A-4C25-A9CC-857983BE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BC7F0-DD17-4388-A598-ACA93020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57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平台分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BB5C0-8169-4733-B478-DEA8A436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574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取三平台主热歌榜的有效排名分均值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98C8E-773E-4598-89D5-4335EAF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240B7-BF8D-44F1-A2FF-53A92DDC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337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B76A"/>
                </a:solidFill>
              </a:defRPr>
            </a:pPr>
            <a:r>
              <a:rPr sz="1575" b="1">
                <a:solidFill>
                  <a:srgbClr val="12B76A"/>
                </a:solidFill>
              </a:rPr>
              <a:t>互动分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B8A07-1C76-4198-8E52-94CDAE1C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337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收藏、评论等公开互动指标归一化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E13EF-49C2-451D-97E7-C107BAB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7045A-8CB4-40F3-B4B4-D2207B31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00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覆盖分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D0947-5D8F-4BE1-AF6B-F450E5C8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00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出现平台数 / 3 × 100，体现跨平台传播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F59CA-30CE-43C6-A0EE-53A24717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530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算法价值：让不同平台、不同榜单位置、不同公开字段的数据进入同一套可解释评分体系。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2AE10-C20E-4930-B505-84E290CE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跨平台歌曲热度分析系统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A5844-419E-455E-B387-7BB6ED70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4965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20DD3-6020-40F0-AD64-DB7EEB28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DASHBOARD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D5ED3-23D9-433A-BB38-8886EBBB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前端看板把分析结果组织成可浏览的业务视图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89767-8527-4676-8976-12DFAD1C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用户可以从汇总指标进入榜单、歌曲详情、平台来源和歌手排行。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C5AF5-74F6-48E5-8B16-85158BF0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028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2A621-80D4-46B6-B921-CB061E08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首页汇总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3DC9F-A4D2-4859-A6DC-FBFE254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总歌曲数、平台记录、最新报告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2652C-8500-4813-B8FB-DC16CD15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3028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0EB05-2A0D-4602-9773-664988A2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86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B76A"/>
                </a:solidFill>
              </a:defRPr>
            </a:pPr>
            <a:r>
              <a:rPr sz="1650" b="1">
                <a:solidFill>
                  <a:srgbClr val="12B76A"/>
                </a:solidFill>
              </a:rPr>
              <a:t>歌曲榜单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17A60-3BF6-44F4-B55E-3F9938A6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日榜、周榜、飙升、新歌、互动热度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A68DA-1062-4F86-858E-8C5A370E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3028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27308-982A-4BA9-93A2-0487055B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9009"/>
                </a:solidFill>
              </a:defRPr>
            </a:pPr>
            <a:r>
              <a:rPr sz="1650" b="1">
                <a:solidFill>
                  <a:srgbClr val="F79009"/>
                </a:solidFill>
              </a:rPr>
              <a:t>详情分析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E4CAB-0FC7-4770-8E75-F205E485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平台得分、热度来源、版本信息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CDE8C-35C7-45C7-8DC4-AA9AEDE5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3028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79FDE-E09E-42C9-819E-CC06410D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歌手榜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6F214-20E1-4E90-B501-1E5C42FB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多平台歌手排名与覆盖情况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2F299-97AD-49F8-9D47-F61402CA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9950"/>
            <a:ext cx="3028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DD968-E570-461D-8CC9-BA0C89FF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00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B6D4"/>
                </a:solidFill>
              </a:defRPr>
            </a:pPr>
            <a:r>
              <a:rPr sz="1650" b="1">
                <a:solidFill>
                  <a:srgbClr val="06B6D4"/>
                </a:solidFill>
              </a:rPr>
              <a:t>AI 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3C410-3852-4D85-AA60-7B496978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43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面向热门歌曲的摘要与洞察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82A9B-9843-4A86-9B4D-07768174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09950"/>
            <a:ext cx="3028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1F837-4343-46C7-9D5A-977D8AB5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4438"/>
                </a:solidFill>
              </a:defRPr>
            </a:pPr>
            <a:r>
              <a:rPr sz="1650" b="1">
                <a:solidFill>
                  <a:srgbClr val="F04438"/>
                </a:solidFill>
              </a:rPr>
              <a:t>运维接口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E5D4E-51C0-4C10-A67A-6F9A6BB1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采集任务、健康检查、日报生成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103DD-2353-4CBA-A52C-3448BE4C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跨平台歌曲热度分析系统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874FC-DBA9-4BC1-9C35-0874FDB5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238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24C62A-15F9-4437-BB85-F84594FD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关键代码片段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5F526-A5D7-4EAD-9391-D60AC080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从项目源码中抽取的核心实现：API 汇总、热度计算、前端渲染。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94369-8FBB-43EB-9D47-DE18C57A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219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F70E1-61BB-4259-B99A-9E7BBB41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F1BBD-4370-42B6-B15D-7C5EC791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4762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def dashboard(self, target_date=None):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    return {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        'daily_hot_top10': self.daily_hot(...),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        'weekly_hot_top10': self.weekly_hot(...),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        'artist_top10': self.artist_rank(...),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4CDA2-328E-434A-9B23-86E6865B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62125"/>
            <a:ext cx="5219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AF7AB-68DA-4D89-B4F6-BB891B51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621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solidFill>
              <a:srgbClr val="12B7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28B36-3528-48F4-899A-D3CD0762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4762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coverage_score = platform_count / 3 * 100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heat_score = (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    platform_score * 0.55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    + engagement_score * 0.30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    + coverage_score * 0.15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7EE32-F0ED-432B-83EB-679EEE8A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52197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CD965-3427-4692-B089-D48F99B9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57794-5F10-4811-A581-E57D2DA9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function loadSongPlatformPerformance(songId) {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  return apiGet(`/songs/${songId}/platform-performance`)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    .then(renderSongPlatformHeatSource);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3EC26-E843-4910-B33B-B70DA2C9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52197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63650-B992-439D-8C7C-CEC22712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代码展示价值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F1266-ED1C-486A-9577-534D73ED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体现项目不是静态页面，而是包含采集、计算、查询、详情分析和前端交互的完整系统。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9F541-B967-4286-B44D-DFBFC752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85345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C1AD7E-101F-4A4D-8141-6319A2F7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838D6-DCC7-4C14-A35C-1D827357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数据模型同时保留原始平台记录和标准歌曲实体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1AF99-48D1-43DC-9D08-96AF7263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这样既能追溯平台来源，也能支持跨平台合并、版本过滤和统一评分。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6249A-058B-4F79-8760-8D020EA4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5A5E2-B5FC-4E68-AAE5-ED237DA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Song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32453-A897-4B09-84DB-402A2CE6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标准歌曲实体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song_name / artist_name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53C0C-0870-4CFC-B3AB-9DD4F9AF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C3965-84FD-4641-815E-14B1C626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B6D4"/>
                </a:solidFill>
              </a:defRPr>
            </a:pPr>
            <a:r>
              <a:rPr sz="1650" b="1">
                <a:solidFill>
                  <a:srgbClr val="06B6D4"/>
                </a:solidFill>
              </a:rPr>
              <a:t>PlatformSong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B77F9-2241-4D2C-B7A2-49DBFEDB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平台原始映射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raw_song_name / version_type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3E795-4A3E-43CE-A96D-39FA151B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4CB68-8734-4A4B-A14E-D0ABAC46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09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B76A"/>
                </a:solidFill>
              </a:defRPr>
            </a:pPr>
            <a:r>
              <a:rPr sz="1650" b="1">
                <a:solidFill>
                  <a:srgbClr val="12B76A"/>
                </a:solidFill>
              </a:rPr>
              <a:t>Chart &amp; ChartSong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AE9D1-268C-43F9-B146-432E64F9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榜单与榜单项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rank / rank_score / chart_date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99BE3-AF54-44DE-AFEC-51D8A281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F790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13450-4B6C-48DB-A8C0-FC4444BD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9009"/>
                </a:solidFill>
              </a:defRPr>
            </a:pPr>
            <a:r>
              <a:rPr sz="1650" b="1">
                <a:solidFill>
                  <a:srgbClr val="F79009"/>
                </a:solidFill>
              </a:rPr>
              <a:t>HeatScoreDaily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A0857-2E63-4767-A9B0-129BF6AF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每日热度结果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heat_score / dominant_platform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4A424-AE34-461F-9D1B-FAA752C0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671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805F0-14F8-46E8-8F83-328DB768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SongMetric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C1CE6-DF56-4417-B0E4-1660DF51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公开互动指标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收藏 / 评论 / 播放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3694A-87E6-42C2-9782-826D92F3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671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F044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1CFDD-80D5-473B-9FA9-CCA147AF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4438"/>
                </a:solidFill>
              </a:defRPr>
            </a:pPr>
            <a:r>
              <a:rPr sz="1650" b="1">
                <a:solidFill>
                  <a:srgbClr val="F04438"/>
                </a:solidFill>
              </a:rPr>
              <a:t>ArtistChartItem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4B459-6997-4B8B-8035-2120396E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81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歌手榜来源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平台排名与覆盖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5C91CD-EA9E-48B9-9299-9D429545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跨平台歌曲热度分析系统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71456-3034-4236-B9B6-E5FB4EAB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54539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374D5-29E9-4BD7-9DB0-9030C7A0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API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38127-F34F-4309-8143-26E4E7ED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接口覆盖采集、榜单、搜索、详情和报告生成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47C53-716C-4F3F-9E77-A2C7C58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路由按业务域拆分，便于前端组合出首页、榜单页、详情页和分析页。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29186-A68C-40BF-A962-C8138827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55C97-A6B3-4EEA-9935-3A49C3D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/api/charts/dashboard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EE1AA-BF45-4C95-A8E9-79BC4FC1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145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首页汇总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6D45D-543C-41E1-B1CF-3D911678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41946-62AD-486E-B291-9BD35C4F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/api/charts/daily-hot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F8C72-9101-4FD3-A849-A1A73E41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歌曲热度日榜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69EA3-DF33-49F8-B7FB-BAAE1136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193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89E4A-4AD6-4E18-B07E-DDABE909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/api/charts/weekly-hot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BD86E-69B7-4108-8675-6709674B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145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歌曲热度周榜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066E2-24D5-4E1F-8584-8BD69326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E153D-6ED3-4BB5-A5B4-8D635FA3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/api/charts/rising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6BB5E-BBBB-4AE8-A4EF-3E86A50D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384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飙升榜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F4EFD-F826-4BDF-9407-AE34CB75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432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B21F9-494E-4693-8BE0-549549F7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38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/api/charts/new-songs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238B9-3114-4841-9928-A8D3216C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三平台新歌榜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953E2-3820-4C36-878C-02CD51AC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432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1B68D-D03F-4F98-AF09-519960D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38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/api/songs/search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41AA3-9970-44AF-AAAE-16E57830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384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歌曲搜索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2399FC-39A6-48D6-B2DE-F695299F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2F318-21F5-42DD-AE44-1CADBB3B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/api/songs/{song_id}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2FC76-E5A7-497B-AD1B-FCA34601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623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歌曲详情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F728C-105E-43F3-8C25-578452EE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671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116C5E-87E2-4943-8A90-D0AECD9E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62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/api/artists/rank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19A4C-F2BA-41F2-8A98-6C058CEE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热门歌手榜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FFD849-78B7-49BD-B7C1-A76C5B72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671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E8A48D-8F5A-4C7F-8745-AEC522A1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62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/api/crawler/run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A92AD5-31AD-476C-9CF1-EC4AC92E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采集任务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77C518-6A5C-4C12-92A6-51957A08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91100"/>
            <a:ext cx="7429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FC9CE6-0EA9-438B-A55A-E61E470B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911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96FE63-B713-4C61-8445-7AEAC494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00650"/>
            <a:ext cx="697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GET /health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POST /api/crawler/run</a:t>
            </a:r>
          </a:p>
          <a:p xmlns:a="http://schemas.openxmlformats.org/drawingml/2006/main">
            <a:pPr algn="l">
              <a:defRPr sz="1125" b="0">
                <a:solidFill>
                  <a:srgbClr val="D1D5DB"/>
                </a:solidFill>
              </a:defRPr>
            </a:pPr>
            <a:r>
              <a:rPr sz="1125" b="0">
                <a:solidFill>
                  <a:srgbClr val="D1D5DB"/>
                </a:solidFill>
              </a:rPr>
              <a:t>POST /api/crawler/run-artists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F176D2-8FE7-4351-93AB-ADECC3F7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跨平台歌曲热度分析系统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59D9DB-E51A-4DDD-BC07-3D8621C3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327710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25E098-3A0B-4B2C-A130-46A5CAC3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D4C69-9649-48E8-94BD-1D127A7E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3BA9C-A72F-4030-BC51-A2053D1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项目总结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24308-3307-4187-A500-11AFDD46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476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69A34-64A8-4315-8350-6C2BDC42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</a:defRPr>
            </a:pPr>
            <a:r>
              <a:rPr sz="1800" b="1">
                <a:solidFill>
                  <a:srgbClr val="06B6D4"/>
                </a:solidFill>
              </a:rPr>
              <a:t>完整链路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07EB6-8B6B-4985-8832-38EA4B7D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从公开榜单采集到数据库、评分服务、接口和前端展示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599C-2E67-4A86-95C1-B5E08D18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4476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3CFF7-45EF-4860-8D37-D6111A59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B76A"/>
                </a:solidFill>
              </a:defRPr>
            </a:pPr>
            <a:r>
              <a:rPr sz="1800" b="1">
                <a:solidFill>
                  <a:srgbClr val="12B76A"/>
                </a:solidFill>
              </a:rPr>
              <a:t>可解释评分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C09F4-5536-44B2-8F53-A271B629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62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平台分、互动分、覆盖分拆解，支持详情页说明热度来源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E54C0-7BAE-4E1D-A8A7-213D41FB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476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9032A-A77F-49B2-AE25-CA070A14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9009"/>
                </a:solidFill>
              </a:defRPr>
            </a:pPr>
            <a:r>
              <a:rPr sz="1800" b="1">
                <a:solidFill>
                  <a:srgbClr val="F79009"/>
                </a:solidFill>
              </a:rPr>
              <a:t>工程化结构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DE73B-9970-44BC-9819-EB4B6809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路由、服务、仓储、模型分层，便于继续扩展和维护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57CA1-9420-449C-A180-AFEE0D4A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4476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0790A-374F-4796-A18D-F199680A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展示价值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C4087-D0C6-41A0-AABA-440D7501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可支撑课程答辩、项目汇报和后续功能演示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71694-AA4F-47B9-8DCB-F76B1671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</a:defRPr>
            </a:pPr>
            <a:r>
              <a:rPr sz="1500" b="0">
                <a:solidFill>
                  <a:srgbClr val="E2E8F0"/>
                </a:solidFill>
              </a:rPr>
              <a:t>下一步可继续补充：真实运行截图、部署说明、测试结果和更完整的数据样本。</a:t>
            </a:r>
          </a:p>
        </p:txBody>
      </p:sp>
    </p:spTree>
    <p:extLst>
      <p:ext uri="{BB962C8B-B14F-4D97-AF65-F5344CB8AC3E}">
        <p14:creationId xmlns:p14="http://schemas.microsoft.com/office/powerpoint/2010/main" val="15626688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2026-07-10T07:19:47.6630000Z</dcterms:created>
  <dcterms:modified xsi:type="dcterms:W3CDTF">2026-07-10T07:19:47.6630000Z</dcterms:modified>
</coreProperties>
</file>